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73" r:id="rId4"/>
    <p:sldId id="276" r:id="rId6"/>
    <p:sldId id="277" r:id="rId7"/>
    <p:sldId id="259" r:id="rId8"/>
    <p:sldId id="272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589"/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截屏2026-07-01 18.01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" y="0"/>
            <a:ext cx="913511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9FAFB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男士手链亚马逊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kern="0" spc="200" dirty="0">
                <a:solidFill>
                  <a:srgbClr val="F9FAFB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视觉优化</a:t>
            </a:r>
            <a:r>
              <a:rPr lang="zh-CN" altLang="en-US" sz="4000" b="1" kern="0" spc="200" dirty="0">
                <a:solidFill>
                  <a:srgbClr val="F9FAFB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指导</a:t>
            </a:r>
            <a:r>
              <a:rPr lang="zh-CN" altLang="en-US" sz="4000" b="1" kern="0" spc="200" dirty="0">
                <a:solidFill>
                  <a:srgbClr val="F9FAFB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方案</a:t>
            </a:r>
            <a:endParaRPr lang="zh-CN" altLang="en-US" sz="4000" b="1" kern="0" spc="200" dirty="0">
              <a:solidFill>
                <a:srgbClr val="F9FAFB"/>
              </a:solidFill>
              <a:latin typeface="Georgia" panose="02040802050405020203" pitchFamily="34" charset="0"/>
              <a:ea typeface="Georgia" panose="02040802050405020203" pitchFamily="34" charset="-122"/>
              <a:cs typeface="Georgia" panose="020408020504050202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Visual Research · 2026.07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582545" y="2640330"/>
            <a:ext cx="1804035" cy="178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4" name="图片 3" descr="截屏2026-07-02 10.49.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77850"/>
            <a:ext cx="6835140" cy="438721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-6223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亚马逊视觉指导：</a:t>
            </a:r>
            <a:r>
              <a:rPr lang="zh-CN" alt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页面最终效果</a:t>
            </a:r>
            <a:r>
              <a:rPr lang="zh-CN" alt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参考</a:t>
            </a:r>
            <a:endParaRPr lang="zh-CN" altLang="en-US" sz="2000" b="1" kern="0" spc="150" dirty="0">
              <a:solidFill>
                <a:srgbClr val="1E2761"/>
              </a:solidFill>
              <a:latin typeface="Georgia" panose="02040802050405020203" pitchFamily="34" charset="0"/>
              <a:ea typeface="Georgia" panose="02040802050405020203" pitchFamily="34" charset="-122"/>
              <a:cs typeface="Georgia" panose="02040802050405020203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230755" y="224536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正面产品图</a:t>
            </a:r>
            <a:endParaRPr lang="zh-CN" altLang="en-US" sz="1200"/>
          </a:p>
        </p:txBody>
      </p:sp>
      <p:sp>
        <p:nvSpPr>
          <p:cNvPr id="6" name="Text 0"/>
          <p:cNvSpPr/>
          <p:nvPr/>
        </p:nvSpPr>
        <p:spPr>
          <a:xfrm>
            <a:off x="457200" y="-6223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亚马逊视觉指导：</a:t>
            </a:r>
            <a:r>
              <a:rPr lang="zh-CN" alt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视觉指导</a:t>
            </a:r>
            <a:r>
              <a:rPr lang="zh-CN" alt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系统</a:t>
            </a:r>
            <a:endParaRPr lang="zh-CN" altLang="en-US" sz="2000" b="1" kern="0" spc="150" dirty="0">
              <a:solidFill>
                <a:srgbClr val="1E2761"/>
              </a:solidFill>
              <a:latin typeface="Georgia" panose="02040802050405020203" pitchFamily="34" charset="0"/>
              <a:ea typeface="Georgia" panose="02040802050405020203" pitchFamily="34" charset="-122"/>
              <a:cs typeface="Georgia" panose="02040802050405020203" pitchFamily="34" charset="-120"/>
            </a:endParaRPr>
          </a:p>
        </p:txBody>
      </p:sp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905" y="831215"/>
            <a:ext cx="1270000" cy="1270000"/>
          </a:xfrm>
          <a:prstGeom prst="rect">
            <a:avLst/>
          </a:prstGeom>
        </p:spPr>
      </p:pic>
      <p:pic>
        <p:nvPicPr>
          <p:cNvPr id="3" name="图片 2" descr="2-5_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345" y="831215"/>
            <a:ext cx="1270635" cy="1270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8925" y="831215"/>
            <a:ext cx="1803400" cy="406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对于每个产品，按以下顺序排列资产：正面产品图，细节图，礼盒图，模特图（商务），模特图（休闲）</a:t>
            </a:r>
            <a:r>
              <a:rPr lang="en-US" altLang="zh-CN"/>
              <a:t>，</a:t>
            </a:r>
            <a:r>
              <a:rPr lang="zh-CN" altLang="en-US"/>
              <a:t>送礼场景图，产品尺寸，尺寸引导图，材质认证图</a:t>
            </a:r>
            <a:endParaRPr lang="zh-CN" altLang="en-US"/>
          </a:p>
        </p:txBody>
      </p:sp>
      <p:pic>
        <p:nvPicPr>
          <p:cNvPr id="11" name="图片 10" descr="2-5_副本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20" y="831215"/>
            <a:ext cx="1269365" cy="1269365"/>
          </a:xfrm>
          <a:prstGeom prst="rect">
            <a:avLst/>
          </a:prstGeom>
        </p:spPr>
      </p:pic>
      <p:pic>
        <p:nvPicPr>
          <p:cNvPr id="13" name="图片 12" descr="2-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831215"/>
            <a:ext cx="1269365" cy="1269365"/>
          </a:xfrm>
          <a:prstGeom prst="rect">
            <a:avLst/>
          </a:prstGeom>
        </p:spPr>
      </p:pic>
      <p:pic>
        <p:nvPicPr>
          <p:cNvPr id="14" name="图片 13" descr="2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030" y="832485"/>
            <a:ext cx="1269365" cy="1269365"/>
          </a:xfrm>
          <a:prstGeom prst="rect">
            <a:avLst/>
          </a:prstGeom>
        </p:spPr>
      </p:pic>
      <p:pic>
        <p:nvPicPr>
          <p:cNvPr id="15" name="图片 14" descr="2-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540" y="2926080"/>
            <a:ext cx="1269365" cy="1269365"/>
          </a:xfrm>
          <a:prstGeom prst="rect">
            <a:avLst/>
          </a:prstGeom>
        </p:spPr>
      </p:pic>
      <p:pic>
        <p:nvPicPr>
          <p:cNvPr id="16" name="图片 15" descr="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9345" y="2912745"/>
            <a:ext cx="1367790" cy="1283335"/>
          </a:xfrm>
          <a:prstGeom prst="rect">
            <a:avLst/>
          </a:prstGeom>
        </p:spPr>
      </p:pic>
      <p:pic>
        <p:nvPicPr>
          <p:cNvPr id="17" name="图片 16" descr="2-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8575" y="2926080"/>
            <a:ext cx="1256665" cy="1256665"/>
          </a:xfrm>
          <a:prstGeom prst="rect">
            <a:avLst/>
          </a:prstGeom>
        </p:spPr>
      </p:pic>
      <p:pic>
        <p:nvPicPr>
          <p:cNvPr id="18" name="图片 17" descr="生成高清大图 (23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8575" y="2912745"/>
            <a:ext cx="1178560" cy="125666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642995" y="224536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细节图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4953000" y="224536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礼盒图</a:t>
            </a:r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6324600" y="224536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模特图</a:t>
            </a:r>
            <a:r>
              <a:rPr lang="en-US" altLang="zh-CN" sz="1200">
                <a:sym typeface="+mn-ea"/>
              </a:rPr>
              <a:t> </a:t>
            </a:r>
            <a:endParaRPr lang="en-US" altLang="zh-CN" sz="1200">
              <a:sym typeface="+mn-ea"/>
            </a:endParaRPr>
          </a:p>
          <a:p>
            <a:pPr algn="ctr"/>
            <a:r>
              <a:rPr lang="zh-CN" altLang="en-US" sz="1200">
                <a:sym typeface="+mn-ea"/>
              </a:rPr>
              <a:t>（商务）</a:t>
            </a:r>
            <a:endParaRPr lang="zh-CN" alt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7543800" y="224536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模特图</a:t>
            </a:r>
            <a:r>
              <a:rPr lang="en-US" altLang="zh-CN" sz="1200">
                <a:sym typeface="+mn-ea"/>
              </a:rPr>
              <a:t> </a:t>
            </a:r>
            <a:endParaRPr lang="en-US" altLang="zh-CN" sz="1200">
              <a:sym typeface="+mn-ea"/>
            </a:endParaRPr>
          </a:p>
          <a:p>
            <a:pPr algn="ctr"/>
            <a:r>
              <a:rPr lang="zh-CN" altLang="en-US" sz="1200">
                <a:sym typeface="+mn-ea"/>
              </a:rPr>
              <a:t>（</a:t>
            </a:r>
            <a:r>
              <a:rPr lang="zh-CN" altLang="en-US" sz="1200">
                <a:sym typeface="+mn-ea"/>
              </a:rPr>
              <a:t>休闲）</a:t>
            </a:r>
            <a:endParaRPr lang="zh-CN" altLang="en-US" sz="1200"/>
          </a:p>
        </p:txBody>
      </p:sp>
      <p:sp>
        <p:nvSpPr>
          <p:cNvPr id="23" name="文本框 22"/>
          <p:cNvSpPr txBox="1"/>
          <p:nvPr/>
        </p:nvSpPr>
        <p:spPr>
          <a:xfrm>
            <a:off x="2230755" y="440055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送礼场景图</a:t>
            </a:r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3642995" y="440055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产品尺寸</a:t>
            </a:r>
            <a:endParaRPr lang="zh-CN" alt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4953000" y="440055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尺寸引导图</a:t>
            </a:r>
            <a:endParaRPr lang="zh-CN" altLang="en-US" sz="1200"/>
          </a:p>
        </p:txBody>
      </p:sp>
      <p:sp>
        <p:nvSpPr>
          <p:cNvPr id="26" name="文本框 25"/>
          <p:cNvSpPr txBox="1"/>
          <p:nvPr/>
        </p:nvSpPr>
        <p:spPr>
          <a:xfrm>
            <a:off x="6324600" y="4400550"/>
            <a:ext cx="136842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ym typeface="+mn-ea"/>
              </a:rPr>
              <a:t>材质认证图</a:t>
            </a:r>
            <a:endParaRPr lang="zh-CN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法国高销量产品视觉</a:t>
            </a:r>
            <a:r>
              <a:rPr lang="zh-CN" altLang="en-US" sz="26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优化</a:t>
            </a:r>
            <a:r>
              <a:rPr lang="en-US" sz="26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与痛点解决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1234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/>
          <p:nvPr/>
        </p:nvSpPr>
        <p:spPr>
          <a:xfrm>
            <a:off x="640080" y="100584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白底主图专业化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产品占画面85%+，三层编织皮革纹理清晰，磁扣金属光泽刻画细腻，搜索页辨识度极高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749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解决痛点: 解决用户对'实物是否与图片一致'的担忧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</p:spPr>
      </p:sp>
      <p:sp>
        <p:nvSpPr>
          <p:cNvPr id="9" name="Shape 7"/>
          <p:cNvSpPr/>
          <p:nvPr/>
        </p:nvSpPr>
        <p:spPr>
          <a:xfrm>
            <a:off x="4663440" y="914400"/>
            <a:ext cx="54864" cy="1234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0" name="Text 8"/>
          <p:cNvSpPr/>
          <p:nvPr/>
        </p:nvSpPr>
        <p:spPr>
          <a:xfrm>
            <a:off x="4846320" y="100584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磁扣细节特写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7490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独立展示磁扣开合结构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664208"/>
            <a:ext cx="3749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解决痛点: 解决用户对五金件质感与牢固性的焦虑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</p:spPr>
      </p:sp>
      <p:sp>
        <p:nvSpPr>
          <p:cNvPr id="14" name="Shape 12"/>
          <p:cNvSpPr/>
          <p:nvPr/>
        </p:nvSpPr>
        <p:spPr>
          <a:xfrm>
            <a:off x="457200" y="2240280"/>
            <a:ext cx="54864" cy="1234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5" name="Text 13"/>
          <p:cNvSpPr/>
          <p:nvPr/>
        </p:nvSpPr>
        <p:spPr>
          <a:xfrm>
            <a:off x="640080" y="233172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礼盒</a:t>
            </a:r>
            <a:r>
              <a:rPr lang="zh-CN" alt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</a:t>
            </a:r>
            <a:endParaRPr lang="zh-CN" altLang="en-US" sz="1300" b="1" dirty="0">
              <a:solidFill>
                <a:srgbClr val="1F23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37490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开盒仪式感强，送礼场景价值感突出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3749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解决痛点: 解决送礼人群对'礼盒是否体面'的核心痛点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402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</p:spPr>
      </p:sp>
      <p:sp>
        <p:nvSpPr>
          <p:cNvPr id="19" name="Shape 17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0" name="Text 18"/>
          <p:cNvSpPr/>
          <p:nvPr/>
        </p:nvSpPr>
        <p:spPr>
          <a:xfrm>
            <a:off x="4846320" y="233172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多场景模特佩戴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37490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商务西装/休闲高领毛衣/复古风格三种场景，覆盖25-40岁主要消费人群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90088"/>
            <a:ext cx="3749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解决痛点: 帮助用户想象佩戴效果，降低决策门槛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</p:spPr>
      </p:sp>
      <p:sp>
        <p:nvSpPr>
          <p:cNvPr id="24" name="Shape 22"/>
          <p:cNvSpPr/>
          <p:nvPr/>
        </p:nvSpPr>
        <p:spPr>
          <a:xfrm>
            <a:off x="457200" y="3566160"/>
            <a:ext cx="54864" cy="1234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5" name="Text 23"/>
          <p:cNvSpPr/>
          <p:nvPr/>
        </p:nvSpPr>
        <p:spPr>
          <a:xfrm>
            <a:off x="640080" y="365760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r>
              <a:rPr lang="zh-CN" alt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zh-CN" altLang="en-US" sz="1300" b="1" dirty="0">
              <a:solidFill>
                <a:srgbClr val="1F23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37490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通过功能可视化(316L/防氧化/尺寸对比)和丰富场景图来弥补品牌短板</a:t>
            </a:r>
            <a:endParaRPr lang="en-US" sz="10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4316095"/>
            <a:ext cx="3749040" cy="4622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F9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解决痛点: </a:t>
            </a:r>
            <a:r>
              <a:rPr lang="en-US" sz="1000" i="1" dirty="0">
                <a:solidFill>
                  <a:srgbClr val="0F958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27%用户评价提及'cheaply made'或材质疑虑。316L/无镍标识可提升信任度。</a:t>
            </a:r>
            <a:endParaRPr lang="en-US" sz="1000" i="1" dirty="0">
              <a:solidFill>
                <a:srgbClr val="0F9589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</p:spPr>
      </p:sp>
      <p:sp>
        <p:nvSpPr>
          <p:cNvPr id="29" name="Shape 27"/>
          <p:cNvSpPr/>
          <p:nvPr/>
        </p:nvSpPr>
        <p:spPr>
          <a:xfrm>
            <a:off x="4663440" y="3566160"/>
            <a:ext cx="54864" cy="123444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0" name="Text 28"/>
          <p:cNvSpPr/>
          <p:nvPr/>
        </p:nvSpPr>
        <p:spPr>
          <a:xfrm>
            <a:off x="4846320" y="365760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变体选择清晰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931920"/>
            <a:ext cx="37490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颜色与尺寸变体以直观色块+价格展示，用户无需跳转即可对比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315968"/>
            <a:ext cx="3749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解决痛点: 减少选择路径，降低跳出率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6223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E2761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亚马逊视觉指导：新Listing必须包含的视觉元素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577850"/>
          <a:ext cx="8458200" cy="4453255"/>
        </p:xfrm>
        <a:graphic>
          <a:graphicData uri="http://schemas.openxmlformats.org/drawingml/2006/table">
            <a:tbl>
              <a:tblPr/>
              <a:tblGrid>
                <a:gridCol w="1056005"/>
                <a:gridCol w="3248660"/>
                <a:gridCol w="4153535"/>
              </a:tblGrid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图片位置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必须包含的内容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痛点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洞察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7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首图 (Image 1)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白底专业摄影，产品占比85%+，光影突出材质质感。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zh-CN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 </a:t>
                      </a:r>
                      <a:r>
                        <a:rPr lang="zh-CN" altLang="en-US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进阶</a:t>
                      </a: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：自然光/室内光/闪光灯三种光线下的产品图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在不同光线下差异大，多光线场景图可减少'color not as expected'差评。</a:t>
                      </a:r>
                      <a:endParaRPr lang="zh-CN" alt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附图2 (Image 2)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扣头/五金细节特写，</a:t>
                      </a:r>
                      <a:r>
                        <a:rPr lang="zh-CN" alt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定制信息</a:t>
                      </a: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清晰可见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73%好评提及材质品质，特写建立信任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 （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SERASAR磁扣、TH品牌标志、ChainsHouse折叠扣均有独立特写图。用户评价中73%提到'high-quality material'</a:t>
                      </a:r>
                      <a:r>
                        <a:rPr lang="zh-CN" alt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宋体" charset="0"/>
                          <a:cs typeface="Calibri" pitchFamily="34" charset="-120"/>
                          <a:sym typeface="+mn-ea"/>
                        </a:rPr>
                        <a:t>）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五金件是判断品质的第一信号，特写=信任建立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附图3 (Image 3)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礼盒包装全景 + 开盒内部展示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  须包含：礼盒外观 + 开盒内部 + 产品摆放全景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送礼动机占60%+，礼盒图直接触发转化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'礼盒看起来廉价'是送礼场景退货原因之一。开箱序列图可管理预期 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  <a:sym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附图4 (Image 4)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商务场景模特佩戴图（西装/腕表搭配）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场景图使转化率提升20-30%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帮助用户想象使用情境，降低'不适合我'的顾虑，，降低决策门槛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附图5 (Image 5)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休闲场景模特佩戴图（日常/街头风格）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覆盖更广泛人群，降低购买顾虑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附图6 (Image 6)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尺寸引导图：手腕测量法 + 尺码对照表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尺寸退货率35%+，引导图可降低退货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附图7 (Image 7)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材质认证图：316L/无镍/防氧化标签或徽章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 须包含：Before/After抗氧化对比 + 质保承诺视觉化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27%用户担忧材质，认证图提升信任 </a:t>
                      </a:r>
                      <a:endParaRPr lang="en-US" sz="1000" dirty="0">
                        <a:solidFill>
                          <a:srgbClr val="1F232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CN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金属链</a:t>
                      </a:r>
                      <a:r>
                        <a:rPr lang="en-US" altLang="zh-CN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-</a:t>
                      </a: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古巴链常见差评：'Came horribly tarnished'。防氧化承诺与对比图可降低顾虑。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605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0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附图</a:t>
                      </a:r>
                      <a:r>
                        <a:rPr lang="en-US" altLang="zh-CN" sz="10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8（</a:t>
                      </a:r>
                      <a:r>
                        <a:rPr lang="en-US" altLang="zh-CN" sz="10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gif）</a:t>
                      </a:r>
                      <a:endParaRPr lang="en-US" altLang="zh-CN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+mn-ea"/>
                        </a:rPr>
                        <a:t>动态图展示佩戴便利性</a:t>
                      </a:r>
                      <a:endParaRPr lang="en-US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  <a:sym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endParaRPr lang="en-US" alt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5*307"/>
  <p:tag name="TABLE_ENDDRAG_RECT" val="36*64*666*30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1304</Words>
  <Application>WPS 表格</Application>
  <PresentationFormat>On-screen Show (16:9)</PresentationFormat>
  <Paragraphs>135</Paragraphs>
  <Slides>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Arial</vt:lpstr>
      <vt:lpstr>宋体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亚马逊男士手链视觉指导：同材质细分品类深度分析与优化方案</dc:title>
  <dc:creator>Amazon Visual Analysis Team</dc:creator>
  <dc:subject>PptxGenJS Presentation</dc:subject>
  <cp:lastModifiedBy>九千七</cp:lastModifiedBy>
  <cp:revision>3</cp:revision>
  <dcterms:created xsi:type="dcterms:W3CDTF">2026-07-07T02:14:28Z</dcterms:created>
  <dcterms:modified xsi:type="dcterms:W3CDTF">2026-07-07T02:14:28Z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D31BC112F28410CD03614C6AFFFA205A_43</vt:lpwstr>
  </property>
  <property fmtid="{D5CDD505-2E9C-101B-9397-08002B2CF9AE}" pid="3" name="KSOProductBuildVer">
    <vt:lpwstr>2052-12.1.23135.23135</vt:lpwstr>
  </property>
</Properties>
</file>